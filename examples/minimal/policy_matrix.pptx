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25603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2600" b="1">
                <a:solidFill>
                  <a:srgbClr val="071B63"/>
                </a:solidFill>
              </a:rPr>
              <a:t>Editable Policy Matrix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92024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>
                <a:solidFill>
                  <a:srgbClr val="475569"/>
                </a:solidFill>
              </a:rPr>
              <a:t>A minimal PPTX reconstruction with editable shapes and text.</a:t>
            </a:r>
          </a:p>
        </p:txBody>
      </p:sp>
      <p:sp>
        <p:nvSpPr>
          <p:cNvPr id="4" name="panel"/>
          <p:cNvSpPr/>
          <p:nvPr/>
        </p:nvSpPr>
        <p:spPr>
          <a:xfrm>
            <a:off x="502920" y="1097280"/>
            <a:ext cx="111556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071B63"/>
                </a:solidFill>
              </a:rPr>
              <a:t/>
            </a:r>
          </a:p>
        </p:txBody>
      </p:sp>
      <p:sp>
        <p:nvSpPr>
          <p:cNvPr id="5" name="header 0"/>
          <p:cNvSpPr/>
          <p:nvPr/>
        </p:nvSpPr>
        <p:spPr>
          <a:xfrm>
            <a:off x="2926079" y="1417320"/>
            <a:ext cx="18288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71B63"/>
                </a:solidFill>
              </a:rPr>
              <a:t>Mainstream</a:t>
            </a:r>
          </a:p>
        </p:txBody>
      </p:sp>
      <p:sp>
        <p:nvSpPr>
          <p:cNvPr id="6" name="header 1"/>
          <p:cNvSpPr/>
          <p:nvPr/>
        </p:nvSpPr>
        <p:spPr>
          <a:xfrm>
            <a:off x="4983479" y="1417320"/>
            <a:ext cx="18288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71B63"/>
                </a:solidFill>
              </a:rPr>
              <a:t>Protective</a:t>
            </a:r>
          </a:p>
        </p:txBody>
      </p:sp>
      <p:sp>
        <p:nvSpPr>
          <p:cNvPr id="7" name="header 2"/>
          <p:cNvSpPr/>
          <p:nvPr/>
        </p:nvSpPr>
        <p:spPr>
          <a:xfrm>
            <a:off x="7040879" y="1417320"/>
            <a:ext cx="18288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71B63"/>
                </a:solidFill>
              </a:rPr>
              <a:t>Permissive</a:t>
            </a:r>
          </a:p>
        </p:txBody>
      </p:sp>
      <p:sp>
        <p:nvSpPr>
          <p:cNvPr id="8" name="header 3"/>
          <p:cNvSpPr/>
          <p:nvPr/>
        </p:nvSpPr>
        <p:spPr>
          <a:xfrm>
            <a:off x="9098280" y="1417320"/>
            <a:ext cx="18288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71B63"/>
                </a:solidFill>
              </a:rPr>
              <a:t>Commercial</a:t>
            </a:r>
          </a:p>
        </p:txBody>
      </p:sp>
      <p:sp>
        <p:nvSpPr>
          <p:cNvPr id="9" name="row 0"/>
          <p:cNvSpPr txBox="1"/>
          <p:nvPr/>
        </p:nvSpPr>
        <p:spPr>
          <a:xfrm>
            <a:off x="822960" y="2167128"/>
            <a:ext cx="1920239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F4C81"/>
                </a:solidFill>
              </a:rPr>
              <a:t>01 Nudity</a:t>
            </a:r>
          </a:p>
        </p:txBody>
      </p:sp>
      <p:sp>
        <p:nvSpPr>
          <p:cNvPr id="10" name="chip 0 0"/>
          <p:cNvSpPr/>
          <p:nvPr/>
        </p:nvSpPr>
        <p:spPr>
          <a:xfrm>
            <a:off x="2926079" y="2075688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A. General Safe</a:t>
            </a:r>
          </a:p>
        </p:txBody>
      </p:sp>
      <p:sp>
        <p:nvSpPr>
          <p:cNvPr id="11" name="chip 0 1"/>
          <p:cNvSpPr/>
          <p:nvPr/>
        </p:nvSpPr>
        <p:spPr>
          <a:xfrm>
            <a:off x="4983479" y="2075688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B. Family Safe</a:t>
            </a:r>
          </a:p>
        </p:txBody>
      </p:sp>
      <p:sp>
        <p:nvSpPr>
          <p:cNvPr id="12" name="chip 0 2"/>
          <p:cNvSpPr/>
          <p:nvPr/>
        </p:nvSpPr>
        <p:spPr>
          <a:xfrm>
            <a:off x="7040879" y="2075688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E. Creative</a:t>
            </a:r>
          </a:p>
        </p:txBody>
      </p:sp>
      <p:sp>
        <p:nvSpPr>
          <p:cNvPr id="13" name="chip 0 3"/>
          <p:cNvSpPr/>
          <p:nvPr/>
        </p:nvSpPr>
        <p:spPr>
          <a:xfrm>
            <a:off x="9098280" y="2075688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D. Lingerie</a:t>
            </a:r>
          </a:p>
        </p:txBody>
      </p:sp>
      <p:sp>
        <p:nvSpPr>
          <p:cNvPr id="14" name="row 1"/>
          <p:cNvSpPr txBox="1"/>
          <p:nvPr/>
        </p:nvSpPr>
        <p:spPr>
          <a:xfrm>
            <a:off x="822960" y="2880360"/>
            <a:ext cx="1920239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F4C81"/>
                </a:solidFill>
              </a:rPr>
              <a:t>02 Violence</a:t>
            </a:r>
          </a:p>
        </p:txBody>
      </p:sp>
      <p:sp>
        <p:nvSpPr>
          <p:cNvPr id="15" name="chip 1 0"/>
          <p:cNvSpPr/>
          <p:nvPr/>
        </p:nvSpPr>
        <p:spPr>
          <a:xfrm>
            <a:off x="2926079" y="2788920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A. Real-world</a:t>
            </a:r>
          </a:p>
        </p:txBody>
      </p:sp>
      <p:sp>
        <p:nvSpPr>
          <p:cNvPr id="16" name="chip 1 1"/>
          <p:cNvSpPr/>
          <p:nvPr/>
        </p:nvSpPr>
        <p:spPr>
          <a:xfrm>
            <a:off x="4983479" y="2788920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B. Zero Tolerance</a:t>
            </a:r>
          </a:p>
        </p:txBody>
      </p:sp>
      <p:sp>
        <p:nvSpPr>
          <p:cNvPr id="17" name="chip 1 2"/>
          <p:cNvSpPr/>
          <p:nvPr/>
        </p:nvSpPr>
        <p:spPr>
          <a:xfrm>
            <a:off x="7040879" y="2788920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E. Legal</a:t>
            </a:r>
          </a:p>
        </p:txBody>
      </p:sp>
      <p:sp>
        <p:nvSpPr>
          <p:cNvPr id="18" name="chip 1 3"/>
          <p:cNvSpPr/>
          <p:nvPr/>
        </p:nvSpPr>
        <p:spPr>
          <a:xfrm>
            <a:off x="9098280" y="2788920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EF0000"/>
                </a:solidFill>
              </a:rPr>
              <a:t>D. Fiction</a:t>
            </a:r>
          </a:p>
        </p:txBody>
      </p:sp>
      <p:sp>
        <p:nvSpPr>
          <p:cNvPr id="19" name="row 2"/>
          <p:cNvSpPr txBox="1"/>
          <p:nvPr/>
        </p:nvSpPr>
        <p:spPr>
          <a:xfrm>
            <a:off x="822960" y="3593592"/>
            <a:ext cx="1920239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F4C81"/>
                </a:solidFill>
              </a:rPr>
              <a:t>03 Goods</a:t>
            </a:r>
          </a:p>
        </p:txBody>
      </p:sp>
      <p:sp>
        <p:nvSpPr>
          <p:cNvPr id="20" name="chip 2 0"/>
          <p:cNvSpPr/>
          <p:nvPr/>
        </p:nvSpPr>
        <p:spPr>
          <a:xfrm>
            <a:off x="2926079" y="3502152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A. Family Friendly</a:t>
            </a:r>
          </a:p>
        </p:txBody>
      </p:sp>
      <p:sp>
        <p:nvSpPr>
          <p:cNvPr id="21" name="chip 2 1"/>
          <p:cNvSpPr/>
          <p:nvPr/>
        </p:nvSpPr>
        <p:spPr>
          <a:xfrm>
            <a:off x="4983479" y="3502152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D. Minor Protect</a:t>
            </a:r>
          </a:p>
        </p:txBody>
      </p:sp>
      <p:sp>
        <p:nvSpPr>
          <p:cNvPr id="22" name="chip 2 2"/>
          <p:cNvSpPr/>
          <p:nvPr/>
        </p:nvSpPr>
        <p:spPr>
          <a:xfrm>
            <a:off x="7040879" y="3502152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EF0000"/>
                </a:solidFill>
              </a:rPr>
              <a:t>B. Regional</a:t>
            </a:r>
          </a:p>
        </p:txBody>
      </p:sp>
      <p:sp>
        <p:nvSpPr>
          <p:cNvPr id="23" name="chip 2 3"/>
          <p:cNvSpPr/>
          <p:nvPr/>
        </p:nvSpPr>
        <p:spPr>
          <a:xfrm>
            <a:off x="9098280" y="3502152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EF0000"/>
                </a:solidFill>
              </a:rPr>
              <a:t>C. Retail</a:t>
            </a:r>
          </a:p>
        </p:txBody>
      </p:sp>
      <p:sp>
        <p:nvSpPr>
          <p:cNvPr id="24" name="row 3"/>
          <p:cNvSpPr txBox="1"/>
          <p:nvPr/>
        </p:nvSpPr>
        <p:spPr>
          <a:xfrm>
            <a:off x="822960" y="4306823"/>
            <a:ext cx="1920239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F4C81"/>
                </a:solidFill>
              </a:rPr>
              <a:t>04 Brand</a:t>
            </a:r>
          </a:p>
        </p:txBody>
      </p:sp>
      <p:sp>
        <p:nvSpPr>
          <p:cNvPr id="25" name="chip 3 0"/>
          <p:cNvSpPr/>
          <p:nvPr/>
        </p:nvSpPr>
        <p:spPr>
          <a:xfrm>
            <a:off x="2926079" y="4215383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B. Clean</a:t>
            </a:r>
          </a:p>
        </p:txBody>
      </p:sp>
      <p:sp>
        <p:nvSpPr>
          <p:cNvPr id="26" name="dash 3 1"/>
          <p:cNvSpPr txBox="1"/>
          <p:nvPr/>
        </p:nvSpPr>
        <p:spPr>
          <a:xfrm>
            <a:off x="4983479" y="4306823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700" b="1">
                <a:solidFill>
                  <a:srgbClr val="071B63"/>
                </a:solidFill>
              </a:rPr>
              <a:t>-</a:t>
            </a:r>
          </a:p>
        </p:txBody>
      </p:sp>
      <p:sp>
        <p:nvSpPr>
          <p:cNvPr id="27" name="chip 3 2"/>
          <p:cNvSpPr/>
          <p:nvPr/>
        </p:nvSpPr>
        <p:spPr>
          <a:xfrm>
            <a:off x="7040879" y="4215383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EF0000"/>
                </a:solidFill>
              </a:rPr>
              <a:t>A. Parody</a:t>
            </a:r>
          </a:p>
        </p:txBody>
      </p:sp>
      <p:sp>
        <p:nvSpPr>
          <p:cNvPr id="28" name="chip 3 3"/>
          <p:cNvSpPr/>
          <p:nvPr/>
        </p:nvSpPr>
        <p:spPr>
          <a:xfrm>
            <a:off x="9098280" y="4215383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EF0000"/>
                </a:solidFill>
              </a:rPr>
              <a:t>C. Brand</a:t>
            </a:r>
          </a:p>
        </p:txBody>
      </p:sp>
      <p:sp>
        <p:nvSpPr>
          <p:cNvPr id="29" name="row 4"/>
          <p:cNvSpPr txBox="1"/>
          <p:nvPr/>
        </p:nvSpPr>
        <p:spPr>
          <a:xfrm>
            <a:off x="822960" y="5020056"/>
            <a:ext cx="1920239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300" b="1">
                <a:solidFill>
                  <a:srgbClr val="0F4C81"/>
                </a:solidFill>
              </a:rPr>
              <a:t>05 Culture</a:t>
            </a:r>
          </a:p>
        </p:txBody>
      </p:sp>
      <p:sp>
        <p:nvSpPr>
          <p:cNvPr id="30" name="chip 4 0"/>
          <p:cNvSpPr/>
          <p:nvPr/>
        </p:nvSpPr>
        <p:spPr>
          <a:xfrm>
            <a:off x="2926079" y="4928616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A. Liberal</a:t>
            </a:r>
          </a:p>
        </p:txBody>
      </p:sp>
      <p:sp>
        <p:nvSpPr>
          <p:cNvPr id="31" name="chip 4 1"/>
          <p:cNvSpPr/>
          <p:nvPr/>
        </p:nvSpPr>
        <p:spPr>
          <a:xfrm>
            <a:off x="4983479" y="4928616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E. Neutrality</a:t>
            </a:r>
          </a:p>
        </p:txBody>
      </p:sp>
      <p:sp>
        <p:nvSpPr>
          <p:cNvPr id="32" name="chip 4 2"/>
          <p:cNvSpPr/>
          <p:nvPr/>
        </p:nvSpPr>
        <p:spPr>
          <a:xfrm>
            <a:off x="7040879" y="4928616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G. Mediterranean</a:t>
            </a:r>
          </a:p>
        </p:txBody>
      </p:sp>
      <p:sp>
        <p:nvSpPr>
          <p:cNvPr id="33" name="chip 4 3"/>
          <p:cNvSpPr/>
          <p:nvPr/>
        </p:nvSpPr>
        <p:spPr>
          <a:xfrm>
            <a:off x="9098280" y="4928616"/>
            <a:ext cx="1828800" cy="38404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71B63"/>
                </a:solidFill>
              </a:rPr>
              <a:t>C. Global</a:t>
            </a:r>
          </a:p>
        </p:txBody>
      </p:sp>
      <p:sp>
        <p:nvSpPr>
          <p:cNvPr id="34" name="legend adaptive"/>
          <p:cNvSpPr/>
          <p:nvPr/>
        </p:nvSpPr>
        <p:spPr>
          <a:xfrm>
            <a:off x="3931920" y="6355080"/>
            <a:ext cx="502920" cy="201168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B8A7E8"/>
            </a:solidFill>
          </a:ln>
        </p:spPr>
        <p:txBody>
          <a:bodyPr wrap="square" anchor="ctr"/>
          <a:lstStyle/>
          <a:p>
            <a:pPr algn="ctr"/>
            <a:r>
              <a:rPr lang="en-US" sz="1400">
                <a:solidFill>
                  <a:srgbClr val="071B63"/>
                </a:solidFill>
              </a:rPr>
              <a:t/>
            </a:r>
          </a:p>
        </p:txBody>
      </p:sp>
      <p:sp>
        <p:nvSpPr>
          <p:cNvPr id="35" name="legend adaptive text"/>
          <p:cNvSpPr txBox="1"/>
          <p:nvPr/>
        </p:nvSpPr>
        <p:spPr>
          <a:xfrm>
            <a:off x="4480560" y="6300216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b="1">
                <a:solidFill>
                  <a:srgbClr val="071B63"/>
                </a:solidFill>
              </a:rPr>
              <a:t>Adaptive</a:t>
            </a:r>
          </a:p>
        </p:txBody>
      </p:sp>
      <p:sp>
        <p:nvSpPr>
          <p:cNvPr id="36" name="legend shift"/>
          <p:cNvSpPr/>
          <p:nvPr/>
        </p:nvSpPr>
        <p:spPr>
          <a:xfrm>
            <a:off x="5806440" y="6355080"/>
            <a:ext cx="50292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en-US" sz="1400">
                <a:solidFill>
                  <a:srgbClr val="071B63"/>
                </a:solidFill>
              </a:rPr>
              <a:t/>
            </a:r>
          </a:p>
        </p:txBody>
      </p:sp>
      <p:sp>
        <p:nvSpPr>
          <p:cNvPr id="37" name="legend shift text"/>
          <p:cNvSpPr txBox="1"/>
          <p:nvPr/>
        </p:nvSpPr>
        <p:spPr>
          <a:xfrm>
            <a:off x="6355080" y="630021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b="1">
                <a:solidFill>
                  <a:srgbClr val="071B63"/>
                </a:solidFill>
              </a:rPr>
              <a:t>Shift</a:t>
            </a:r>
          </a:p>
        </p:txBody>
      </p:sp>
    </p:spTree>
  </p:cSld>
  <p:clrMapOvr>
    <a:masterClrMapping/>
  </p:clrMapOvr>
</p:sld>
</file>